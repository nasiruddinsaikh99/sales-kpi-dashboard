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8288000" cx="118872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9B5ED2-74E1-4D67-907A-8B0723589DF2}">
  <a:tblStyle styleId="{9D9B5ED2-74E1-4D67-907A-8B0723589DF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593466" y="685800"/>
            <a:ext cx="1671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2593466" y="685800"/>
            <a:ext cx="1671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485900" y="2992968"/>
            <a:ext cx="8915400" cy="636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485900" y="9605435"/>
            <a:ext cx="8915400" cy="44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17245" y="16950267"/>
            <a:ext cx="26745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937635" y="16950267"/>
            <a:ext cx="40122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395335" y="16950267"/>
            <a:ext cx="26745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0" type="dt"/>
          </p:nvPr>
        </p:nvSpPr>
        <p:spPr>
          <a:xfrm>
            <a:off x="817245" y="16950267"/>
            <a:ext cx="26745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937635" y="16950267"/>
            <a:ext cx="40122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395335" y="16950267"/>
            <a:ext cx="26745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17245" y="973667"/>
            <a:ext cx="10252800" cy="35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17245" y="4868333"/>
            <a:ext cx="10252800" cy="116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17245" y="16950267"/>
            <a:ext cx="26745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937635" y="16950267"/>
            <a:ext cx="40122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95335" y="16950267"/>
            <a:ext cx="26745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11054" y="4559301"/>
            <a:ext cx="10252800" cy="76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11054" y="12238568"/>
            <a:ext cx="10252800" cy="4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17245" y="16950267"/>
            <a:ext cx="26745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937635" y="16950267"/>
            <a:ext cx="40122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95335" y="16950267"/>
            <a:ext cx="26745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17245" y="973667"/>
            <a:ext cx="10252800" cy="35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17245" y="4868333"/>
            <a:ext cx="5052000" cy="116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017895" y="4868333"/>
            <a:ext cx="5052000" cy="116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17245" y="16950267"/>
            <a:ext cx="26745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937635" y="16950267"/>
            <a:ext cx="40122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95335" y="16950267"/>
            <a:ext cx="26745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18793" y="973667"/>
            <a:ext cx="10252800" cy="35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18793" y="4483101"/>
            <a:ext cx="5028900" cy="219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18793" y="6680200"/>
            <a:ext cx="5028900" cy="9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017895" y="4483101"/>
            <a:ext cx="5053500" cy="219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017895" y="6680200"/>
            <a:ext cx="5053500" cy="9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17245" y="16950267"/>
            <a:ext cx="26745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937635" y="16950267"/>
            <a:ext cx="40122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95335" y="16950267"/>
            <a:ext cx="26745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17245" y="973667"/>
            <a:ext cx="10252800" cy="35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17245" y="16950267"/>
            <a:ext cx="26745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937635" y="16950267"/>
            <a:ext cx="40122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395335" y="16950267"/>
            <a:ext cx="26745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18793" y="1219200"/>
            <a:ext cx="38337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053608" y="2633133"/>
            <a:ext cx="6018000" cy="129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18793" y="5486400"/>
            <a:ext cx="3833700" cy="101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17245" y="16950267"/>
            <a:ext cx="26745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937635" y="16950267"/>
            <a:ext cx="40122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395335" y="16950267"/>
            <a:ext cx="26745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18793" y="1219200"/>
            <a:ext cx="38337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053608" y="2633133"/>
            <a:ext cx="6018000" cy="129963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18793" y="5486400"/>
            <a:ext cx="3833700" cy="101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17245" y="16950267"/>
            <a:ext cx="26745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937635" y="16950267"/>
            <a:ext cx="40122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395335" y="16950267"/>
            <a:ext cx="26745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17245" y="973667"/>
            <a:ext cx="10252800" cy="35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141855" y="5543933"/>
            <a:ext cx="11603700" cy="102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17245" y="16950267"/>
            <a:ext cx="26745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937635" y="16950267"/>
            <a:ext cx="40122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395335" y="16950267"/>
            <a:ext cx="26745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2039205" y="7441217"/>
            <a:ext cx="15498300" cy="25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-3161512" y="4952267"/>
            <a:ext cx="15498300" cy="75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17245" y="16950267"/>
            <a:ext cx="26745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937635" y="16950267"/>
            <a:ext cx="40122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395335" y="16950267"/>
            <a:ext cx="26745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17245" y="973667"/>
            <a:ext cx="10252800" cy="35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17245" y="4868333"/>
            <a:ext cx="10252800" cy="116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17245" y="16950267"/>
            <a:ext cx="26745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937635" y="16950267"/>
            <a:ext cx="40122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395335" y="16950267"/>
            <a:ext cx="26745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882253" y="1216169"/>
            <a:ext cx="2015400" cy="1051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Gross Profit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3092529" y="1216169"/>
            <a:ext cx="1764300" cy="1051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Net Gross Profit After chargeback	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7383075" y="2731713"/>
            <a:ext cx="3352800" cy="16668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Deduction Summary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Payout Chargeback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Lateness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5107779" y="1216169"/>
            <a:ext cx="1764300" cy="1051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Gross Profit Commission	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8971131" y="1193800"/>
            <a:ext cx="1764300" cy="1051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Final Payout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7039455" y="1216169"/>
            <a:ext cx="1764300" cy="1051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GP Spiff Amt for Accelerator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882253" y="2731713"/>
            <a:ext cx="5990100" cy="38085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Performance Trend (Approved, with 6 months)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7383075" y="4635929"/>
            <a:ext cx="3352800" cy="1904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Loyalty Reward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882253" y="6875692"/>
            <a:ext cx="9927900" cy="16665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Spiff Qualifiers and Percentages	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GP Spiff Qualified 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Accelerator Qualifier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Box Conversion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Ready Go%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863850" y="8803700"/>
            <a:ext cx="10159500" cy="9171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Detailed Metrics</a:t>
            </a:r>
            <a:endParaRPr sz="24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Device Spiff	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4" name="Google Shape;94;p13"/>
          <p:cNvGraphicFramePr/>
          <p:nvPr/>
        </p:nvGraphicFramePr>
        <p:xfrm>
          <a:off x="1742718" y="96402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{9D9B5ED2-74E1-4D67-907A-8B0723589DF2}</a:tableStyleId>
              </a:tblPr>
              <a:tblGrid>
                <a:gridCol w="7635700"/>
              </a:tblGrid>
              <a:tr h="219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467"/>
                        <a:buFont typeface="Arial"/>
                        <a:buNone/>
                      </a:pPr>
                      <a:r>
                        <a:rPr b="1" i="0" lang="en-US" sz="3466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Power Six</a:t>
                      </a:r>
                      <a:endParaRPr sz="3733"/>
                    </a:p>
                  </a:txBody>
                  <a:tcPr marT="16950" marB="121950" marR="6350" marL="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3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33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 Priority Upgrade 30%</a:t>
                      </a:r>
                      <a:endParaRPr sz="1800"/>
                    </a:p>
                  </a:txBody>
                  <a:tcPr marT="16950" marB="121950" marR="6350" marL="17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3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33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VHI Close Rate % (FWA/ Fios) 20% </a:t>
                      </a:r>
                      <a:endParaRPr sz="1800"/>
                    </a:p>
                  </a:txBody>
                  <a:tcPr marT="16950" marB="121950" marR="6350" marL="17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3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33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Upgrade Conversion 18% </a:t>
                      </a:r>
                      <a:endParaRPr sz="1800"/>
                    </a:p>
                  </a:txBody>
                  <a:tcPr marT="16950" marB="121950" marR="6350" marL="17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25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33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CSGA 9% 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33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16950" marB="121950" marR="6350" marL="17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3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33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VZ Protection 55% </a:t>
                      </a:r>
                      <a:endParaRPr sz="1800"/>
                    </a:p>
                  </a:txBody>
                  <a:tcPr marT="16950" marB="121950" marR="6350" marL="17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3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33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Take Rate for Registered Perks 0.58</a:t>
                      </a:r>
                      <a:endParaRPr sz="1800"/>
                    </a:p>
                  </a:txBody>
                  <a:tcPr marT="16950" marB="121950" marR="6350" marL="17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3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33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6950" marB="121950" marR="6350" marL="63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467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Swing Metrics</a:t>
                      </a:r>
                      <a:endParaRPr sz="1800"/>
                    </a:p>
                  </a:txBody>
                  <a:tcPr marT="16950" marB="121950" marR="6350" marL="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3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33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Premium Unlimited 60% </a:t>
                      </a:r>
                      <a:endParaRPr sz="1800"/>
                    </a:p>
                  </a:txBody>
                  <a:tcPr marT="16950" marB="121950" marR="6350" marL="17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6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33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AAL (CSGA BYOD, CSGA BYOD+, CSGA, eSim, CSGA DPP) 30% </a:t>
                      </a:r>
                      <a:endParaRPr sz="1800"/>
                    </a:p>
                  </a:txBody>
                  <a:tcPr marT="16950" marB="121950" marR="6350" marL="17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3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33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VHDP Protection 5% </a:t>
                      </a:r>
                      <a:endParaRPr sz="1800"/>
                    </a:p>
                  </a:txBody>
                  <a:tcPr marT="16950" marB="121950" marR="6350" marL="17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